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6B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17594B"/>
          </a:solidFill>
          <a:ln w="12700">
            <a:solidFill>
              <a:srgbClr val="1759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81360" y="4297680"/>
            <a:ext cx="2377440" cy="237744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· FASE 3 — FIAP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20240"/>
            <a:ext cx="9144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Predição e Inteligência Analítica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 Alfabetização no Brasil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206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3,87 milhões de alunos · Modelo supervisionado · Priorização de territórios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Thiago Corrêa Carvalho Diniz</a:t>
            </a:r>
            <a:pPr indent="0" marL="0">
              <a:buNone/>
            </a:pPr>
            <a:r>
              <a:rPr lang="en-US" sz="1500" dirty="0">
                <a:solidFill>
                  <a:srgbClr val="8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RM 371212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6309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criança alfabetizada até o fim do 2º ano. A régua é o Saeb, 743 pontos; a meta, 80% até 2030.</a:t>
            </a:r>
            <a:endParaRPr lang="en-US" sz="1500" dirty="0"/>
          </a:p>
          <a:p>
            <a:pPr indent="0" marL="0">
              <a:lnSpc>
                <a:spcPct val="132000"/>
              </a:lnSpc>
              <a:buNone/>
            </a:pPr>
            <a:endParaRPr lang="en-US" sz="15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o resultado só aparece depois da prova aplicada. Quando o número chega, o ano letivo acabou.</a:t>
            </a:r>
            <a:endParaRPr lang="en-US" sz="1500" dirty="0"/>
          </a:p>
          <a:p>
            <a:pPr indent="0" marL="0">
              <a:lnSpc>
                <a:spcPct val="132000"/>
              </a:lnSpc>
              <a:buNone/>
            </a:pPr>
            <a:endParaRPr lang="en-US" sz="15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Quis responder uma pergunta: dá para saber antes?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06640" y="1737360"/>
            <a:ext cx="4206240" cy="1737360"/>
          </a:xfrm>
          <a:prstGeom prst="roundRect">
            <a:avLst>
              <a:gd name="adj" fmla="val 4211"/>
            </a:avLst>
          </a:prstGeom>
          <a:solidFill>
            <a:srgbClr val="F2F6F4"/>
          </a:solidFill>
          <a:ln w="12700">
            <a:solidFill>
              <a:srgbClr val="F2F6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43800" y="190195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743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7543800" y="26974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no Saeb, o corte da alfabetização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406640" y="3749040"/>
            <a:ext cx="4206240" cy="1737360"/>
          </a:xfrm>
          <a:prstGeom prst="roundRect">
            <a:avLst>
              <a:gd name="adj" fmla="val 4211"/>
            </a:avLst>
          </a:prstGeom>
          <a:solidFill>
            <a:srgbClr val="F2F6F4"/>
          </a:solidFill>
          <a:ln w="12700">
            <a:solidFill>
              <a:srgbClr val="F2F6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43800" y="391363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até 2030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47091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nacional de crianças alfabetizadas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PROJETO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eu construí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6309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Construí um modelo que estima a chance de uma criança ser alfabetizada.</a:t>
            </a:r>
            <a:endParaRPr lang="en-US" sz="1500" dirty="0"/>
          </a:p>
          <a:p>
            <a:pPr indent="0" marL="0">
              <a:lnSpc>
                <a:spcPct val="132000"/>
              </a:lnSpc>
              <a:buNone/>
            </a:pPr>
            <a:endParaRPr lang="en-US" sz="15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que eu tinha da Fase 2 guardava uma linha por município. Como preciso prever criança por criança, montei uma base nova, com uma linha por aluno.</a:t>
            </a:r>
            <a:endParaRPr lang="en-US" sz="1500" dirty="0"/>
          </a:p>
          <a:p>
            <a:pPr indent="0" marL="0">
              <a:lnSpc>
                <a:spcPct val="132000"/>
              </a:lnSpc>
              <a:buNone/>
            </a:pPr>
            <a:endParaRPr lang="en-US" sz="15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comando roda tudo, da busca dos dados até a publicação do resultado.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06640" y="1737360"/>
            <a:ext cx="2011680" cy="1554480"/>
          </a:xfrm>
          <a:prstGeom prst="roundRect">
            <a:avLst>
              <a:gd name="adj" fmla="val 4706"/>
            </a:avLst>
          </a:prstGeom>
          <a:solidFill>
            <a:srgbClr val="F2F6F4"/>
          </a:solidFill>
          <a:ln w="12700">
            <a:solidFill>
              <a:srgbClr val="F2F6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43800" y="1901952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3,87 mi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7543800" y="26974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 avaliados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601200" y="1737360"/>
            <a:ext cx="2011680" cy="1554480"/>
          </a:xfrm>
          <a:prstGeom prst="roundRect">
            <a:avLst>
              <a:gd name="adj" fmla="val 4706"/>
            </a:avLst>
          </a:prstGeom>
          <a:solidFill>
            <a:srgbClr val="F2F6F4"/>
          </a:solidFill>
          <a:ln w="12700">
            <a:solidFill>
              <a:srgbClr val="F2F6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738360" y="1901952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5.548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9738360" y="26974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municípios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406640" y="3566160"/>
            <a:ext cx="2011680" cy="1554480"/>
          </a:xfrm>
          <a:prstGeom prst="roundRect">
            <a:avLst>
              <a:gd name="adj" fmla="val 4706"/>
            </a:avLst>
          </a:prstGeom>
          <a:solidFill>
            <a:srgbClr val="F2F6F4"/>
          </a:solidFill>
          <a:ln w="12700">
            <a:solidFill>
              <a:srgbClr val="F2F6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43800" y="3730752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7543800" y="45262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no modelo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601200" y="3566160"/>
            <a:ext cx="2011680" cy="1554480"/>
          </a:xfrm>
          <a:prstGeom prst="roundRect">
            <a:avLst>
              <a:gd name="adj" fmla="val 4706"/>
            </a:avLst>
          </a:prstGeom>
          <a:solidFill>
            <a:srgbClr val="F2F6F4"/>
          </a:solidFill>
          <a:ln w="12700">
            <a:solidFill>
              <a:srgbClr val="F2F6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738360" y="3730752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9738360" y="45262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 automatizadas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OBSTÁCULO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variável que entregava a resposta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4805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Comecei jogando fora a variável mais forte da base.</a:t>
            </a:r>
            <a:endParaRPr lang="en-US" sz="1500" dirty="0"/>
          </a:p>
          <a:p>
            <a:pPr indent="0" marL="0">
              <a:lnSpc>
                <a:spcPct val="132000"/>
              </a:lnSpc>
              <a:buNone/>
            </a:pPr>
            <a:endParaRPr lang="en-US" sz="15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proficiência é a própria resposta: acima de 743, a criança é alfabetizada. Com ela o modelo acertaria tudo e não serviria para nada, porque antes da prova esse número não existe.</a:t>
            </a:r>
            <a:endParaRPr lang="en-US" sz="1500" dirty="0"/>
          </a:p>
          <a:p>
            <a:pPr indent="0" marL="0">
              <a:lnSpc>
                <a:spcPct val="132000"/>
              </a:lnSpc>
              <a:buNone/>
            </a:pPr>
            <a:endParaRPr lang="en-US" sz="15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Descobri também que todo aluno faltante entra como não alfabetizado. Tirei quatro colunas:</a:t>
            </a:r>
            <a:endParaRPr lang="en-US" sz="15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proficiencia</a:t>
            </a:r>
            <a:endParaRPr lang="en-US" sz="15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presenca</a:t>
            </a:r>
            <a:endParaRPr lang="en-US" sz="15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preenchimento_caderno</a:t>
            </a:r>
            <a:endParaRPr lang="en-US" sz="15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peso_aluno</a:t>
            </a:r>
            <a:endParaRPr lang="en-US" sz="1500" dirty="0"/>
          </a:p>
        </p:txBody>
      </p:sp>
      <p:pic>
        <p:nvPicPr>
          <p:cNvPr id="5" name="Image 0" descr="/Users/thiago/Documents/ARQUIVOS PÓS/FASE 3/tech-challenge-fase3/images/01_vazamento_proficienc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920240"/>
            <a:ext cx="6400800" cy="35661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394960" y="553212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duas cores se separam exatamente no corte, sem uma única exceção.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DESCOBERTA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quarto deles nunca fez a prova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4805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1,88 milhão de alunos contados como não alfabetizados, 513 mil nunca fizeram a prova. É um quarto do problema.</a:t>
            </a:r>
            <a:endParaRPr lang="en-US" sz="1500" dirty="0"/>
          </a:p>
          <a:p>
            <a:pPr indent="0" marL="0">
              <a:lnSpc>
                <a:spcPct val="132000"/>
              </a:lnSpc>
              <a:buNone/>
            </a:pPr>
            <a:endParaRPr lang="en-US" sz="15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Separei aprendizagem de participação, e o retrato do país mudou.</a:t>
            </a:r>
            <a:endParaRPr lang="en-US" sz="1500" dirty="0"/>
          </a:p>
          <a:p>
            <a:pPr indent="0" marL="0">
              <a:lnSpc>
                <a:spcPct val="132000"/>
              </a:lnSpc>
              <a:buNone/>
            </a:pPr>
            <a:endParaRPr lang="en-US" sz="15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Sul tem o melhor desempenho entre quem faz a prova e cai para terceiro no indicador oficial: é a região com mais ausência.</a:t>
            </a:r>
            <a:endParaRPr lang="en-US" sz="1500" dirty="0"/>
          </a:p>
        </p:txBody>
      </p:sp>
      <p:pic>
        <p:nvPicPr>
          <p:cNvPr id="5" name="Image 0" descr="/Users/thiago/Documents/ARQUIVOS PÓS/FASE 3/tech-challenge-fase3/images/02_alvo_por_regi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828800"/>
            <a:ext cx="6400800" cy="35204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394960" y="544068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Cinza: indicador oficial. Azul: somente quem fez a prova.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critério que se mostrou impossível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treinar, escrevi a nota mínima que o modelo teria de alcançar.</a:t>
            </a:r>
            <a:endParaRPr lang="en-US" sz="1500" dirty="0"/>
          </a:p>
          <a:p>
            <a:pPr indent="0" marL="0">
              <a:lnSpc>
                <a:spcPct val="132000"/>
              </a:lnSpc>
              <a:buNone/>
            </a:pPr>
            <a:endParaRPr lang="en-US" sz="15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 não alcançou, e a execução parou sozinha.</a:t>
            </a:r>
            <a:endParaRPr lang="en-US" sz="1500" dirty="0"/>
          </a:p>
          <a:p>
            <a:pPr indent="0" marL="0">
              <a:lnSpc>
                <a:spcPct val="132000"/>
              </a:lnSpc>
              <a:buNone/>
            </a:pPr>
            <a:endParaRPr lang="en-US" sz="15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Fui medir o limite do que era possível. Nem sabendo o resultado real de cada município eu chegaria naquela nota. Ou seja, quem estava mal calibrado era o critério.</a:t>
            </a:r>
            <a:endParaRPr lang="en-US" sz="1500" dirty="0"/>
          </a:p>
          <a:p>
            <a:pPr indent="0" marL="0">
              <a:lnSpc>
                <a:spcPct val="132000"/>
              </a:lnSpc>
              <a:buNone/>
            </a:pPr>
            <a:endParaRPr lang="en-US" sz="15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curva mostra que mais dados também não ajudariam.</a:t>
            </a:r>
            <a:endParaRPr lang="en-US" sz="1500" dirty="0"/>
          </a:p>
        </p:txBody>
      </p:sp>
      <p:pic>
        <p:nvPicPr>
          <p:cNvPr id="5" name="Image 0" descr="/Users/thiago/Documents/ARQUIVOS PÓS/FASE 3/tech-challenge-fase3/images/11_curva_aprendiza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828800"/>
            <a:ext cx="5029200" cy="36393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0" y="555955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nota do modelo conforme aumento o treino.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ACHADO CENTRAL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Erra no aluno, acerta no município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029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prever uma criança, o modelo é fraco.</a:t>
            </a:r>
            <a:endParaRPr lang="en-US" sz="1500" dirty="0"/>
          </a:p>
          <a:p>
            <a:pPr indent="0" marL="0">
              <a:lnSpc>
                <a:spcPct val="132000"/>
              </a:lnSpc>
              <a:buNone/>
            </a:pPr>
            <a:endParaRPr lang="en-US" sz="15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quando somo as previsões de cada município, a correlação com o resultado real chega a 0,83.</a:t>
            </a:r>
            <a:endParaRPr lang="en-US" sz="1500" dirty="0"/>
          </a:p>
          <a:p>
            <a:pPr indent="0" marL="0">
              <a:lnSpc>
                <a:spcPct val="132000"/>
              </a:lnSpc>
              <a:buNone/>
            </a:pPr>
            <a:endParaRPr lang="en-US" sz="15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erros individuais são grandes e se cancelam na média.</a:t>
            </a:r>
            <a:endParaRPr lang="en-US" sz="1500" dirty="0"/>
          </a:p>
          <a:p>
            <a:pPr indent="0" marL="0">
              <a:lnSpc>
                <a:spcPct val="132000"/>
              </a:lnSpc>
              <a:buNone/>
            </a:pPr>
            <a:endParaRPr lang="en-US" sz="15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não sabe qual criança não será alfabetizada. Sabe quantas não serão.</a:t>
            </a:r>
            <a:endParaRPr lang="en-US" sz="1500" dirty="0"/>
          </a:p>
        </p:txBody>
      </p:sp>
      <p:pic>
        <p:nvPicPr>
          <p:cNvPr id="5" name="Image 0" descr="/Users/thiago/Documents/ARQUIVOS PÓS/FASE 3/tech-challenge-fase3/images/10_agregacao_municip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1691640"/>
            <a:ext cx="4663440" cy="39867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0" y="574243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ponto é um município: o que previ no eixo X, o que aconteceu no eixo Y.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INTERPRETABILIDADE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mais pesa na predição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4805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mais pesa é a história do próprio município, com o dobro da segunda variável.</a:t>
            </a:r>
            <a:endParaRPr lang="en-US" sz="1500" dirty="0"/>
          </a:p>
          <a:p>
            <a:pPr indent="0" marL="0">
              <a:lnSpc>
                <a:spcPct val="132000"/>
              </a:lnSpc>
              <a:buNone/>
            </a:pPr>
            <a:endParaRPr lang="en-US" sz="15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cinco primeiras são todas territoriais. O que descreve o aluno quase não conta.</a:t>
            </a:r>
            <a:endParaRPr lang="en-US" sz="1500" dirty="0"/>
          </a:p>
          <a:p>
            <a:pPr indent="0" marL="0">
              <a:lnSpc>
                <a:spcPct val="132000"/>
              </a:lnSpc>
              <a:buNone/>
            </a:pPr>
            <a:endParaRPr lang="en-US" sz="15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ressalva: isso mostra associação, e associação é diferente de causa. Como não tenho dados de professor, turma ou família, o território acaba representando tudo isso.</a:t>
            </a:r>
            <a:endParaRPr lang="en-US" sz="1500" dirty="0"/>
          </a:p>
        </p:txBody>
      </p:sp>
      <p:pic>
        <p:nvPicPr>
          <p:cNvPr id="5" name="Image 0" descr="/Users/thiago/Documents/ARQUIVOS PÓS/FASE 3/tech-challenge-fase3/images/12_importancia_permutac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828800"/>
            <a:ext cx="6400800" cy="359359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394960" y="551383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quanto o modelo piora quando embaralho cada variável.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DE POLÍTICA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renda, vinte e sete pontos de diferença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6309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Agrupei os municípios por perfil. Dois grupos têm exatamente a mesma renda por habitante.</a:t>
            </a:r>
            <a:endParaRPr lang="en-US" sz="1500" dirty="0"/>
          </a:p>
          <a:p>
            <a:pPr indent="0" marL="0">
              <a:lnSpc>
                <a:spcPct val="132000"/>
              </a:lnSpc>
              <a:buNone/>
            </a:pPr>
            <a:endParaRPr lang="en-US" sz="15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alfabetiza 47% das crianças. O outro, 74%.</a:t>
            </a:r>
            <a:endParaRPr lang="en-US" sz="1500" dirty="0"/>
          </a:p>
          <a:p>
            <a:pPr indent="0" marL="0">
              <a:lnSpc>
                <a:spcPct val="132000"/>
              </a:lnSpc>
              <a:buNone/>
            </a:pPr>
            <a:endParaRPr lang="en-US" sz="15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1.351 municípios pobres acima da média nacional. A renda não decide o resultado, e vale investigar o que esses municípios fazem de diferente.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06640" y="1737360"/>
            <a:ext cx="2011680" cy="1828800"/>
          </a:xfrm>
          <a:prstGeom prst="roundRect">
            <a:avLst>
              <a:gd name="adj" fmla="val 4000"/>
            </a:avLst>
          </a:prstGeom>
          <a:solidFill>
            <a:srgbClr val="F2F6F4"/>
          </a:solidFill>
          <a:ln w="12700">
            <a:solidFill>
              <a:srgbClr val="F2F6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43800" y="1901952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47,3%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7543800" y="26974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 renda,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desempenho crítico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601200" y="1737360"/>
            <a:ext cx="2011680" cy="1828800"/>
          </a:xfrm>
          <a:prstGeom prst="roundRect">
            <a:avLst>
              <a:gd name="adj" fmla="val 4000"/>
            </a:avLst>
          </a:prstGeom>
          <a:solidFill>
            <a:srgbClr val="F2F6F4"/>
          </a:solidFill>
          <a:ln w="12700">
            <a:solidFill>
              <a:srgbClr val="F2F6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738360" y="1901952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74,0%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9738360" y="26974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 renda,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desempenho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406640" y="3840480"/>
            <a:ext cx="4206240" cy="1554480"/>
          </a:xfrm>
          <a:prstGeom prst="roundRect">
            <a:avLst>
              <a:gd name="adj" fmla="val 4706"/>
            </a:avLst>
          </a:prstGeom>
          <a:solidFill>
            <a:srgbClr val="F2F6F4"/>
          </a:solidFill>
          <a:ln w="12700">
            <a:solidFill>
              <a:srgbClr val="F2F6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43800" y="400507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R$ 16,6 mil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7543800" y="48006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PIB per capita nos dois grupos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cinco perguntas, respondidas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886968"/>
          </a:xfrm>
          <a:prstGeom prst="roundRect">
            <a:avLst>
              <a:gd name="adj" fmla="val 6186"/>
            </a:avLst>
          </a:prstGeom>
          <a:solidFill>
            <a:srgbClr val="EDF3F0"/>
          </a:solidFill>
          <a:ln w="12700">
            <a:solidFill>
              <a:srgbClr val="F2F6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fatores mais impactam a alfabetização?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120640" y="1691640"/>
            <a:ext cx="6309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a criança estuda. O desempenho do município no ano anterior é o fator mais forte.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11064240" cy="886968"/>
          </a:xfrm>
          <a:prstGeom prst="roundRect">
            <a:avLst>
              <a:gd name="adj" fmla="val 6186"/>
            </a:avLst>
          </a:prstGeom>
          <a:solidFill>
            <a:srgbClr val="F2F6F4"/>
          </a:solidFill>
          <a:ln w="12700">
            <a:solidFill>
              <a:srgbClr val="F2F6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651760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variáveis influenciam mais o modelo?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120640" y="2651760"/>
            <a:ext cx="6309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cinco maiores são todas de território. O que descreve o aluno quase não pesa.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11064240" cy="886968"/>
          </a:xfrm>
          <a:prstGeom prst="roundRect">
            <a:avLst>
              <a:gd name="adj" fmla="val 6186"/>
            </a:avLst>
          </a:prstGeom>
          <a:solidFill>
            <a:srgbClr val="EDF3F0"/>
          </a:solidFill>
          <a:ln w="12700">
            <a:solidFill>
              <a:srgbClr val="F2F6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611880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municípios apresentam maior risco?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3611880"/>
            <a:ext cx="6309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1.028 com a menor taxa prevista. Quase 90% ficam no Nordeste e no Norte.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480560"/>
            <a:ext cx="11064240" cy="886968"/>
          </a:xfrm>
          <a:prstGeom prst="roundRect">
            <a:avLst>
              <a:gd name="adj" fmla="val 6186"/>
            </a:avLst>
          </a:prstGeom>
          <a:solidFill>
            <a:srgbClr val="F2F6F4"/>
          </a:solidFill>
          <a:ln w="12700">
            <a:solidFill>
              <a:srgbClr val="F2F6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4572000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regiões têm padrões semelhantes?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4572000"/>
            <a:ext cx="6309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municípios formam quatro perfis. Dois têm a mesma renda e taxas de 47% e 74%.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440680"/>
            <a:ext cx="11064240" cy="886968"/>
          </a:xfrm>
          <a:prstGeom prst="roundRect">
            <a:avLst>
              <a:gd name="adj" fmla="val 6186"/>
            </a:avLst>
          </a:prstGeom>
          <a:solidFill>
            <a:srgbClr val="EDF3F0"/>
          </a:solidFill>
          <a:ln w="12700">
            <a:solidFill>
              <a:srgbClr val="F2F6F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5532120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prever quem não atinge a meta de 2030?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5532120"/>
            <a:ext cx="6309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Comparando o avanço de cada ano com o necessário. O país sobe 2,68 pontos ao ano e a meta pede 2,76.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6B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206240"/>
            <a:ext cx="3108960" cy="3108960"/>
          </a:xfrm>
          <a:prstGeom prst="ellipse">
            <a:avLst/>
          </a:prstGeom>
          <a:solidFill>
            <a:srgbClr val="17594B"/>
          </a:solidFill>
          <a:ln w="12700">
            <a:solidFill>
              <a:srgbClr val="1759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914400"/>
            <a:ext cx="2560320" cy="256032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011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UMA FRASE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56032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não diz qual criança vai falhar.</a:t>
            </a:r>
            <a:endParaRPr lang="en-US" sz="3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 onde a política precisa chegar primeiro.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663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github.com/tcarvalhodiniz/tech-challenge-fase3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Predição e Inteligência Analítica para Alfabetização no Brasil</dc:title>
  <dc:subject>PptxGenJS Presentation</dc:subject>
  <dc:creator>Thiago Corrêa Carvalho Diniz</dc:creator>
  <cp:lastModifiedBy>Thiago Corrêa Carvalho Diniz</cp:lastModifiedBy>
  <cp:revision>1</cp:revision>
  <dcterms:created xsi:type="dcterms:W3CDTF">2026-09-17T10:58:50Z</dcterms:created>
  <dcterms:modified xsi:type="dcterms:W3CDTF">2026-09-17T10:58:50Z</dcterms:modified>
</cp:coreProperties>
</file>