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6B5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280160"/>
            <a:ext cx="3840480" cy="3840480"/>
          </a:xfrm>
          <a:prstGeom prst="ellipse">
            <a:avLst/>
          </a:prstGeom>
          <a:solidFill>
            <a:srgbClr val="17594B"/>
          </a:solidFill>
          <a:ln w="12700">
            <a:solidFill>
              <a:srgbClr val="17594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881360" y="4297680"/>
            <a:ext cx="2377440" cy="2377440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3716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FB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 CHALLENGE · FASE 3 — FIAP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920240"/>
            <a:ext cx="9144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Predição e Inteligência Analítica</a:t>
            </a:r>
            <a:endParaRPr lang="en-US" sz="4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a Alfabetização no Brasil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420624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FB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3,87 milhões de alunos · Modelo supervisionado · Priorização de territórios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58521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Thiago Corrêa Carvalho Diniz</a:t>
            </a:r>
            <a:pPr indent="0" marL="0">
              <a:buNone/>
            </a:pPr>
            <a:r>
              <a:rPr lang="en-US" sz="1500" dirty="0">
                <a:solidFill>
                  <a:srgbClr val="8FB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RM 371212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0292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problema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00200"/>
            <a:ext cx="63093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500" dirty="0">
                <a:solidFill>
                  <a:srgbClr val="1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 criança alfabetizada até o fim do 2º ano. A régua é o Saeb, 743 pontos; a meta, 80% até 2030.</a:t>
            </a:r>
            <a:endParaRPr lang="en-US" sz="1500" dirty="0"/>
          </a:p>
          <a:p>
            <a:pPr indent="0" marL="0">
              <a:lnSpc>
                <a:spcPct val="132000"/>
              </a:lnSpc>
              <a:buNone/>
            </a:pPr>
            <a:endParaRPr lang="en-US" sz="150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500" dirty="0">
                <a:solidFill>
                  <a:srgbClr val="1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Hoje o resultado só aparece depois da prova aplicada. Quando o número chega, o ano letivo acabou.</a:t>
            </a:r>
            <a:endParaRPr lang="en-US" sz="1500" dirty="0"/>
          </a:p>
          <a:p>
            <a:pPr indent="0" marL="0">
              <a:lnSpc>
                <a:spcPct val="132000"/>
              </a:lnSpc>
              <a:buNone/>
            </a:pPr>
            <a:endParaRPr lang="en-US" sz="150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500" dirty="0">
                <a:solidFill>
                  <a:srgbClr val="1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Quis responder uma pergunta: dá para saber antes?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406640" y="1737360"/>
            <a:ext cx="4206240" cy="1737360"/>
          </a:xfrm>
          <a:prstGeom prst="roundRect">
            <a:avLst>
              <a:gd name="adj" fmla="val 4211"/>
            </a:avLst>
          </a:prstGeom>
          <a:solidFill>
            <a:srgbClr val="F2F6F4"/>
          </a:solidFill>
          <a:ln w="12700">
            <a:solidFill>
              <a:srgbClr val="F2F6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543800" y="1901952"/>
            <a:ext cx="3931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743</a:t>
            </a: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7543800" y="2697480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B7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pontos no Saeb, o corte da alfabetização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7406640" y="3749040"/>
            <a:ext cx="4206240" cy="1737360"/>
          </a:xfrm>
          <a:prstGeom prst="roundRect">
            <a:avLst>
              <a:gd name="adj" fmla="val 4211"/>
            </a:avLst>
          </a:prstGeom>
          <a:solidFill>
            <a:srgbClr val="F2F6F4"/>
          </a:solidFill>
          <a:ln w="12700">
            <a:solidFill>
              <a:srgbClr val="F2F6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543800" y="3913632"/>
            <a:ext cx="3931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80% até 2030</a:t>
            </a:r>
            <a:endParaRPr lang="en-US" sz="3200" dirty="0"/>
          </a:p>
        </p:txBody>
      </p:sp>
      <p:sp>
        <p:nvSpPr>
          <p:cNvPr id="10" name="Text 8"/>
          <p:cNvSpPr txBox="1"/>
          <p:nvPr/>
        </p:nvSpPr>
        <p:spPr>
          <a:xfrm>
            <a:off x="7543800" y="4709160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B7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 nacional de crianças alfabetizadas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PROJETO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0292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eu construí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00200"/>
            <a:ext cx="63093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500" dirty="0">
                <a:solidFill>
                  <a:srgbClr val="1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Construí um modelo que estima a chance de uma criança ser alfabetizada.</a:t>
            </a:r>
            <a:endParaRPr lang="en-US" sz="1500" dirty="0"/>
          </a:p>
          <a:p>
            <a:pPr indent="0" marL="0">
              <a:lnSpc>
                <a:spcPct val="132000"/>
              </a:lnSpc>
              <a:buNone/>
            </a:pPr>
            <a:endParaRPr lang="en-US" sz="150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500" dirty="0">
                <a:solidFill>
                  <a:srgbClr val="1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base que eu tinha da Fase 2 guardava uma linha por município. Como preciso prever criança por criança, montei uma base nova, com uma linha por aluno.</a:t>
            </a:r>
            <a:endParaRPr lang="en-US" sz="1500" dirty="0"/>
          </a:p>
          <a:p>
            <a:pPr indent="0" marL="0">
              <a:lnSpc>
                <a:spcPct val="132000"/>
              </a:lnSpc>
              <a:buNone/>
            </a:pPr>
            <a:endParaRPr lang="en-US" sz="150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500" dirty="0">
                <a:solidFill>
                  <a:srgbClr val="1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comando roda tudo, da busca dos dados até a publicação do resultado.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406640" y="1737360"/>
            <a:ext cx="2011680" cy="1554480"/>
          </a:xfrm>
          <a:prstGeom prst="roundRect">
            <a:avLst>
              <a:gd name="adj" fmla="val 4706"/>
            </a:avLst>
          </a:prstGeom>
          <a:solidFill>
            <a:srgbClr val="F2F6F4"/>
          </a:solidFill>
          <a:ln w="12700">
            <a:solidFill>
              <a:srgbClr val="F2F6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543800" y="1901952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3,87 mi</a:t>
            </a: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7543800" y="269748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B7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alunos avaliados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9601200" y="1737360"/>
            <a:ext cx="2011680" cy="1554480"/>
          </a:xfrm>
          <a:prstGeom prst="roundRect">
            <a:avLst>
              <a:gd name="adj" fmla="val 4706"/>
            </a:avLst>
          </a:prstGeom>
          <a:solidFill>
            <a:srgbClr val="F2F6F4"/>
          </a:solidFill>
          <a:ln w="12700">
            <a:solidFill>
              <a:srgbClr val="F2F6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738360" y="1901952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5.548</a:t>
            </a:r>
            <a:endParaRPr lang="en-US" sz="3200" dirty="0"/>
          </a:p>
        </p:txBody>
      </p:sp>
      <p:sp>
        <p:nvSpPr>
          <p:cNvPr id="10" name="Text 8"/>
          <p:cNvSpPr txBox="1"/>
          <p:nvPr/>
        </p:nvSpPr>
        <p:spPr>
          <a:xfrm>
            <a:off x="9738360" y="269748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B7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municípios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7406640" y="3566160"/>
            <a:ext cx="2011680" cy="1554480"/>
          </a:xfrm>
          <a:prstGeom prst="roundRect">
            <a:avLst>
              <a:gd name="adj" fmla="val 4706"/>
            </a:avLst>
          </a:prstGeom>
          <a:solidFill>
            <a:srgbClr val="F2F6F4"/>
          </a:solidFill>
          <a:ln w="12700">
            <a:solidFill>
              <a:srgbClr val="F2F6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543800" y="3730752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3200" dirty="0"/>
          </a:p>
        </p:txBody>
      </p:sp>
      <p:sp>
        <p:nvSpPr>
          <p:cNvPr id="13" name="Text 11"/>
          <p:cNvSpPr txBox="1"/>
          <p:nvPr/>
        </p:nvSpPr>
        <p:spPr>
          <a:xfrm>
            <a:off x="7543800" y="452628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B7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variáveis no modelo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9601200" y="3566160"/>
            <a:ext cx="2011680" cy="1554480"/>
          </a:xfrm>
          <a:prstGeom prst="roundRect">
            <a:avLst>
              <a:gd name="adj" fmla="val 4706"/>
            </a:avLst>
          </a:prstGeom>
          <a:solidFill>
            <a:srgbClr val="F2F6F4"/>
          </a:solidFill>
          <a:ln w="12700">
            <a:solidFill>
              <a:srgbClr val="F2F6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738360" y="3730752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3200" dirty="0"/>
          </a:p>
        </p:txBody>
      </p:sp>
      <p:sp>
        <p:nvSpPr>
          <p:cNvPr id="16" name="Text 14"/>
          <p:cNvSpPr txBox="1"/>
          <p:nvPr/>
        </p:nvSpPr>
        <p:spPr>
          <a:xfrm>
            <a:off x="9738360" y="452628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B7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etapas automatizadas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PRIMEIRO OBSTÁCULO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0292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variável que entregava a resposta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00200"/>
            <a:ext cx="44805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500" dirty="0">
                <a:solidFill>
                  <a:srgbClr val="1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Comecei jogando fora a variável mais forte da base.</a:t>
            </a:r>
            <a:endParaRPr lang="en-US" sz="1500" dirty="0"/>
          </a:p>
          <a:p>
            <a:pPr indent="0" marL="0">
              <a:lnSpc>
                <a:spcPct val="132000"/>
              </a:lnSpc>
              <a:buNone/>
            </a:pPr>
            <a:endParaRPr lang="en-US" sz="150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500" dirty="0">
                <a:solidFill>
                  <a:srgbClr val="1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proficiência é a própria resposta: acima de 743, a criança é alfabetizada. Com ela o modelo acertaria tudo e não serviria para nada, porque antes da prova esse número não existe.</a:t>
            </a:r>
            <a:endParaRPr lang="en-US" sz="1500" dirty="0"/>
          </a:p>
          <a:p>
            <a:pPr indent="0" marL="0">
              <a:lnSpc>
                <a:spcPct val="132000"/>
              </a:lnSpc>
              <a:buNone/>
            </a:pPr>
            <a:endParaRPr lang="en-US" sz="150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500" dirty="0">
                <a:solidFill>
                  <a:srgbClr val="1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Descobri também que todo aluno faltante entra como não alfabetizado. Tirei quatro colunas:</a:t>
            </a:r>
            <a:endParaRPr lang="en-US" sz="150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500" dirty="0">
                <a:solidFill>
                  <a:srgbClr val="1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proficiencia</a:t>
            </a:r>
            <a:endParaRPr lang="en-US" sz="150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500" dirty="0">
                <a:solidFill>
                  <a:srgbClr val="1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presenca</a:t>
            </a:r>
            <a:endParaRPr lang="en-US" sz="150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500" dirty="0">
                <a:solidFill>
                  <a:srgbClr val="1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preenchimento_caderno</a:t>
            </a:r>
            <a:endParaRPr lang="en-US" sz="150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500" dirty="0">
                <a:solidFill>
                  <a:srgbClr val="1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peso_aluno</a:t>
            </a:r>
            <a:endParaRPr lang="en-US" sz="1500" dirty="0"/>
          </a:p>
        </p:txBody>
      </p:sp>
      <p:pic>
        <p:nvPicPr>
          <p:cNvPr id="5" name="Image 0" descr="/Users/thiago/Documents/ARQUIVOS PÓS/FASE 3/tech-challenge-fase3/images/01_vazamento_proficienci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94960" y="1920240"/>
            <a:ext cx="6400800" cy="35661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394960" y="5532120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6B7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duas cores se separam exatamente no corte, sem uma única exceção.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DESCOBERTA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0292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quarto deles nunca fez a prova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00200"/>
            <a:ext cx="44805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500" dirty="0">
                <a:solidFill>
                  <a:srgbClr val="1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1,88 milhão de alunos contados como não alfabetizados, 513 mil nunca fizeram a prova. É um quarto do problema.</a:t>
            </a:r>
            <a:endParaRPr lang="en-US" sz="1500" dirty="0"/>
          </a:p>
          <a:p>
            <a:pPr indent="0" marL="0">
              <a:lnSpc>
                <a:spcPct val="132000"/>
              </a:lnSpc>
              <a:buNone/>
            </a:pPr>
            <a:endParaRPr lang="en-US" sz="150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500" dirty="0">
                <a:solidFill>
                  <a:srgbClr val="1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Separei aprendizagem de participação, e o retrato do país mudou.</a:t>
            </a:r>
            <a:endParaRPr lang="en-US" sz="1500" dirty="0"/>
          </a:p>
          <a:p>
            <a:pPr indent="0" marL="0">
              <a:lnSpc>
                <a:spcPct val="132000"/>
              </a:lnSpc>
              <a:buNone/>
            </a:pPr>
            <a:endParaRPr lang="en-US" sz="150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500" dirty="0">
                <a:solidFill>
                  <a:srgbClr val="1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Sul tem o melhor desempenho entre quem faz a prova e cai para terceiro no indicador oficial: é a região com mais ausência.</a:t>
            </a:r>
            <a:endParaRPr lang="en-US" sz="1500" dirty="0"/>
          </a:p>
        </p:txBody>
      </p:sp>
      <p:pic>
        <p:nvPicPr>
          <p:cNvPr id="5" name="Image 0" descr="/Users/thiago/Documents/ARQUIVOS PÓS/FASE 3/tech-challenge-fase3/images/02_alvo_por_regia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94960" y="1828800"/>
            <a:ext cx="6400800" cy="35204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394960" y="5440680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6B7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Cinza: indicador oficial. Azul: somente quem fez a prova.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MODELAGEM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0292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critério que se mostrou impossível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00200"/>
            <a:ext cx="512064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500" dirty="0">
                <a:solidFill>
                  <a:srgbClr val="1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de treinar, escrevi a nota mínima que o modelo teria de alcançar.</a:t>
            </a:r>
            <a:endParaRPr lang="en-US" sz="1500" dirty="0"/>
          </a:p>
          <a:p>
            <a:pPr indent="0" marL="0">
              <a:lnSpc>
                <a:spcPct val="132000"/>
              </a:lnSpc>
              <a:buNone/>
            </a:pPr>
            <a:endParaRPr lang="en-US" sz="150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500" dirty="0">
                <a:solidFill>
                  <a:srgbClr val="1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 não alcançou, e a execução parou sozinha.</a:t>
            </a:r>
            <a:endParaRPr lang="en-US" sz="1500" dirty="0"/>
          </a:p>
          <a:p>
            <a:pPr indent="0" marL="0">
              <a:lnSpc>
                <a:spcPct val="132000"/>
              </a:lnSpc>
              <a:buNone/>
            </a:pPr>
            <a:endParaRPr lang="en-US" sz="150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500" dirty="0">
                <a:solidFill>
                  <a:srgbClr val="1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Fui medir o limite do que era possível. Nem sabendo o resultado real de cada município eu chegaria naquela nota. Ou seja, quem estava mal calibrado era o critério.</a:t>
            </a:r>
            <a:endParaRPr lang="en-US" sz="1500" dirty="0"/>
          </a:p>
          <a:p>
            <a:pPr indent="0" marL="0">
              <a:lnSpc>
                <a:spcPct val="132000"/>
              </a:lnSpc>
              <a:buNone/>
            </a:pPr>
            <a:endParaRPr lang="en-US" sz="150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500" dirty="0">
                <a:solidFill>
                  <a:srgbClr val="1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curva mostra que mais dados também não ajudariam.</a:t>
            </a:r>
            <a:endParaRPr lang="en-US" sz="1500" dirty="0"/>
          </a:p>
        </p:txBody>
      </p:sp>
      <p:pic>
        <p:nvPicPr>
          <p:cNvPr id="5" name="Image 0" descr="/Users/thiago/Documents/ARQUIVOS PÓS/FASE 3/tech-challenge-fase3/images/11_curva_aprendizad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0" y="1828800"/>
            <a:ext cx="5029200" cy="363931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00800" y="5559552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6B7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nota do modelo conforme aumento o treino.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ACHADO CENTRAL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0292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Erra no aluno, acerta no município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00200"/>
            <a:ext cx="502920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500" dirty="0">
                <a:solidFill>
                  <a:srgbClr val="1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Esse teto não torna o modelo inútil. Muda a pergunta que ele responde bem.</a:t>
            </a:r>
            <a:endParaRPr lang="en-US" sz="1500" dirty="0"/>
          </a:p>
          <a:p>
            <a:pPr indent="0" marL="0">
              <a:lnSpc>
                <a:spcPct val="132000"/>
              </a:lnSpc>
              <a:buNone/>
            </a:pPr>
            <a:endParaRPr lang="en-US" sz="150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500" dirty="0">
                <a:solidFill>
                  <a:srgbClr val="1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prever uma criança, ele é fraco. Mas quando somo as previsões de cada município, a correlação com o resultado real chega a 0,83.</a:t>
            </a:r>
            <a:endParaRPr lang="en-US" sz="1500" dirty="0"/>
          </a:p>
          <a:p>
            <a:pPr indent="0" marL="0">
              <a:lnSpc>
                <a:spcPct val="132000"/>
              </a:lnSpc>
              <a:buNone/>
            </a:pPr>
            <a:endParaRPr lang="en-US" sz="150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500" dirty="0">
                <a:solidFill>
                  <a:srgbClr val="1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erros individuais são grandes e se cancelam na média.</a:t>
            </a:r>
            <a:endParaRPr lang="en-US" sz="1500" dirty="0"/>
          </a:p>
          <a:p>
            <a:pPr indent="0" marL="0">
              <a:lnSpc>
                <a:spcPct val="132000"/>
              </a:lnSpc>
              <a:buNone/>
            </a:pPr>
            <a:endParaRPr lang="en-US" sz="150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500" dirty="0">
                <a:solidFill>
                  <a:srgbClr val="1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modelo não sabe qual criança não será alfabetizada. Sabe quantas não serão.</a:t>
            </a:r>
            <a:endParaRPr lang="en-US" sz="1500" dirty="0"/>
          </a:p>
        </p:txBody>
      </p:sp>
      <p:pic>
        <p:nvPicPr>
          <p:cNvPr id="5" name="Image 0" descr="/Users/thiago/Documents/ARQUIVOS PÓS/FASE 3/tech-challenge-fase3/images/10_agregacao_municipi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6560" y="1691640"/>
            <a:ext cx="4663440" cy="398678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00800" y="5742432"/>
            <a:ext cx="5394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6B7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ponto é um município: o que previ no eixo X, o que aconteceu no eixo Y.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INTERPRETABILIDADE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0292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mais pesa na predição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00200"/>
            <a:ext cx="44805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500" dirty="0">
                <a:solidFill>
                  <a:srgbClr val="1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mais pesa é a história do próprio município, com o dobro da segunda variável.</a:t>
            </a:r>
            <a:endParaRPr lang="en-US" sz="1500" dirty="0"/>
          </a:p>
          <a:p>
            <a:pPr indent="0" marL="0">
              <a:lnSpc>
                <a:spcPct val="132000"/>
              </a:lnSpc>
              <a:buNone/>
            </a:pPr>
            <a:endParaRPr lang="en-US" sz="150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500" dirty="0">
                <a:solidFill>
                  <a:srgbClr val="1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cinco primeiras são todas territoriais. O que descreve o aluno quase não conta.</a:t>
            </a:r>
            <a:endParaRPr lang="en-US" sz="1500" dirty="0"/>
          </a:p>
          <a:p>
            <a:pPr indent="0" marL="0">
              <a:lnSpc>
                <a:spcPct val="132000"/>
              </a:lnSpc>
              <a:buNone/>
            </a:pPr>
            <a:endParaRPr lang="en-US" sz="150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500" dirty="0">
                <a:solidFill>
                  <a:srgbClr val="1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ressalva: isso mostra associação, e associação é diferente de causa. Como não tenho dados de professor, turma ou família, o território acaba representando tudo isso.</a:t>
            </a:r>
            <a:endParaRPr lang="en-US" sz="1500" dirty="0"/>
          </a:p>
        </p:txBody>
      </p:sp>
      <p:pic>
        <p:nvPicPr>
          <p:cNvPr id="5" name="Image 0" descr="/Users/thiago/Documents/ARQUIVOS PÓS/FASE 3/tech-challenge-fase3/images/12_importancia_permutaca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94960" y="1828800"/>
            <a:ext cx="6400800" cy="359359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394960" y="5513832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6B7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quanto o modelo piora quando embaralho cada variável.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INSIGHT DE POLÍTICA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0292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Mesma renda, vinte e sete pontos de diferença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00200"/>
            <a:ext cx="457200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500" dirty="0">
                <a:solidFill>
                  <a:srgbClr val="1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Agrupei os municípios por perfil, sem usar o resultado.</a:t>
            </a:r>
            <a:endParaRPr lang="en-US" sz="1500" dirty="0"/>
          </a:p>
          <a:p>
            <a:pPr indent="0" marL="0">
              <a:lnSpc>
                <a:spcPct val="132000"/>
              </a:lnSpc>
              <a:buNone/>
            </a:pPr>
            <a:endParaRPr lang="en-US" sz="150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500" dirty="0">
                <a:solidFill>
                  <a:srgbClr val="1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Dois grupos caíram na mesma faixa de renda: cerca de 15 mil reais por habitante.</a:t>
            </a:r>
            <a:endParaRPr lang="en-US" sz="1500" dirty="0"/>
          </a:p>
          <a:p>
            <a:pPr indent="0" marL="0">
              <a:lnSpc>
                <a:spcPct val="132000"/>
              </a:lnSpc>
              <a:buNone/>
            </a:pPr>
            <a:endParaRPr lang="en-US" sz="150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500" dirty="0">
                <a:solidFill>
                  <a:srgbClr val="1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alfabetiza 47% das crianças. O outro, 74%.</a:t>
            </a:r>
            <a:endParaRPr lang="en-US" sz="1500" dirty="0"/>
          </a:p>
          <a:p>
            <a:pPr indent="0" marL="0">
              <a:lnSpc>
                <a:spcPct val="132000"/>
              </a:lnSpc>
              <a:buNone/>
            </a:pPr>
            <a:endParaRPr lang="en-US" sz="150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500" dirty="0">
                <a:solidFill>
                  <a:srgbClr val="1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São 1.351 municípios pobres acima da média nacional. A renda não decide o resultado.</a:t>
            </a:r>
            <a:endParaRPr lang="en-US" sz="1500" dirty="0"/>
          </a:p>
        </p:txBody>
      </p:sp>
      <p:pic>
        <p:nvPicPr>
          <p:cNvPr id="5" name="Image 0" descr="/Users/thiago/Documents/ARQUIVOS PÓS/FASE 3/tech-challenge-fase3/images/18_renda_x_desempenh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0" y="1783080"/>
            <a:ext cx="6309360" cy="396849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0" y="5797296"/>
            <a:ext cx="6309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6B7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ponto é um município. Os cinzas são os outros dois perfis.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APLICAÇÃO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0292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 a política precisa chegar primeiro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00200"/>
            <a:ext cx="457200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500" dirty="0">
                <a:solidFill>
                  <a:srgbClr val="1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Ordenei os 5.517 municípios pela taxa prevista e separei o quinto mais crítico: 1.028 municípios.</a:t>
            </a:r>
            <a:endParaRPr lang="en-US" sz="1500" dirty="0"/>
          </a:p>
          <a:p>
            <a:pPr indent="0" marL="0">
              <a:lnSpc>
                <a:spcPct val="132000"/>
              </a:lnSpc>
              <a:buNone/>
            </a:pPr>
            <a:endParaRPr lang="en-US" sz="150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500" dirty="0">
                <a:solidFill>
                  <a:srgbClr val="1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Quase 90% deles estão no Nordeste e no Norte.</a:t>
            </a:r>
            <a:endParaRPr lang="en-US" sz="1500" dirty="0"/>
          </a:p>
          <a:p>
            <a:pPr indent="0" marL="0">
              <a:lnSpc>
                <a:spcPct val="132000"/>
              </a:lnSpc>
              <a:buNone/>
            </a:pPr>
            <a:endParaRPr lang="en-US" sz="150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500" dirty="0">
                <a:solidFill>
                  <a:srgbClr val="1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a meta de 2030, comparo o avanço de cada ano com o necessário: o país sobe 2,68 pontos ao ano e precisaria de 2,76.</a:t>
            </a:r>
            <a:endParaRPr lang="en-US" sz="1500" dirty="0"/>
          </a:p>
        </p:txBody>
      </p:sp>
      <p:pic>
        <p:nvPicPr>
          <p:cNvPr id="5" name="Image 0" descr="/Users/thiago/Documents/ARQUIVOS PÓS/FASE 3/tech-challenge-fase3/images/15_risco_municipio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0" y="1828800"/>
            <a:ext cx="6309360" cy="373989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0" y="5614416"/>
            <a:ext cx="6309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6B7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Distribuição dos municípios pela taxa prevista; em vermelho, o quinto mais crítico.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CONCLUSÃO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0292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cinco perguntas, respondidas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064240" cy="886968"/>
          </a:xfrm>
          <a:prstGeom prst="roundRect">
            <a:avLst>
              <a:gd name="adj" fmla="val 6186"/>
            </a:avLst>
          </a:prstGeom>
          <a:solidFill>
            <a:srgbClr val="EDF3F0"/>
          </a:solidFill>
          <a:ln w="12700">
            <a:solidFill>
              <a:srgbClr val="F2F6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691640"/>
            <a:ext cx="41148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Quais fatores mais impactam a alfabetização?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120640" y="1691640"/>
            <a:ext cx="6309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 a criança estuda. O desempenho do município no ano anterior é o fator mais forte.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48640" y="2560320"/>
            <a:ext cx="11064240" cy="886968"/>
          </a:xfrm>
          <a:prstGeom prst="roundRect">
            <a:avLst>
              <a:gd name="adj" fmla="val 6186"/>
            </a:avLst>
          </a:prstGeom>
          <a:solidFill>
            <a:srgbClr val="F2F6F4"/>
          </a:solidFill>
          <a:ln w="12700">
            <a:solidFill>
              <a:srgbClr val="F2F6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2651760"/>
            <a:ext cx="41148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Quais variáveis influenciam mais o modelo?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5120640" y="2651760"/>
            <a:ext cx="6309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cinco maiores são todas de território. O que descreve o aluno quase não pesa.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48640" y="3520440"/>
            <a:ext cx="11064240" cy="886968"/>
          </a:xfrm>
          <a:prstGeom prst="roundRect">
            <a:avLst>
              <a:gd name="adj" fmla="val 6186"/>
            </a:avLst>
          </a:prstGeom>
          <a:solidFill>
            <a:srgbClr val="EDF3F0"/>
          </a:solidFill>
          <a:ln w="12700">
            <a:solidFill>
              <a:srgbClr val="F2F6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7240" y="3611880"/>
            <a:ext cx="41148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Quais municípios apresentam maior risco?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5120640" y="3611880"/>
            <a:ext cx="6309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1.028 com a menor taxa prevista. Quase 90% ficam no Nordeste e no Norte.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48640" y="4480560"/>
            <a:ext cx="11064240" cy="886968"/>
          </a:xfrm>
          <a:prstGeom prst="roundRect">
            <a:avLst>
              <a:gd name="adj" fmla="val 6186"/>
            </a:avLst>
          </a:prstGeom>
          <a:solidFill>
            <a:srgbClr val="F2F6F4"/>
          </a:solidFill>
          <a:ln w="12700">
            <a:solidFill>
              <a:srgbClr val="F2F6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77240" y="4572000"/>
            <a:ext cx="41148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Quais regiões têm padrões semelhantes?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5120640" y="4572000"/>
            <a:ext cx="6309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municípios formam quatro perfis. Dois têm a mesma renda e taxas de 47% e 74%.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48640" y="5440680"/>
            <a:ext cx="11064240" cy="886968"/>
          </a:xfrm>
          <a:prstGeom prst="roundRect">
            <a:avLst>
              <a:gd name="adj" fmla="val 6186"/>
            </a:avLst>
          </a:prstGeom>
          <a:solidFill>
            <a:srgbClr val="EDF3F0"/>
          </a:solidFill>
          <a:ln w="12700">
            <a:solidFill>
              <a:srgbClr val="F2F6F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77240" y="5532120"/>
            <a:ext cx="41148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prever quem não atinge a meta de 2030?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5120640" y="5532120"/>
            <a:ext cx="6309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Comparando o avanço de cada ano com o necessário. O país sobe 2,68 pontos ao ano e a meta pede 2,76.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6B5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4206240"/>
            <a:ext cx="3108960" cy="3108960"/>
          </a:xfrm>
          <a:prstGeom prst="ellipse">
            <a:avLst/>
          </a:prstGeom>
          <a:solidFill>
            <a:srgbClr val="17594B"/>
          </a:solidFill>
          <a:ln w="12700">
            <a:solidFill>
              <a:srgbClr val="17594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607040" y="-914400"/>
            <a:ext cx="2560320" cy="2560320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20116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FB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UMA FRASE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560320"/>
            <a:ext cx="102412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modelo não diz qual criança vai falhar.</a:t>
            </a:r>
            <a:endParaRPr lang="en-US" sz="3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Diz onde a política precisa chegar primeiro.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46634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FB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github.com/tcarvalhodiniz/tech-challenge-fase3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Predição e Inteligência Analítica para Alfabetização no Brasil</dc:title>
  <dc:subject>PptxGenJS Presentation</dc:subject>
  <dc:creator>Thiago Corrêa Carvalho Diniz</dc:creator>
  <cp:lastModifiedBy>Thiago Corrêa Carvalho Diniz</cp:lastModifiedBy>
  <cp:revision>1</cp:revision>
  <dcterms:created xsi:type="dcterms:W3CDTF">2026-09-18T15:46:12Z</dcterms:created>
  <dcterms:modified xsi:type="dcterms:W3CDTF">2026-09-18T15:46:12Z</dcterms:modified>
</cp:coreProperties>
</file>